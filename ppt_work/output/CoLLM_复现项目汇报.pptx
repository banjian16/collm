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4bc8eaeb44ed5" /><Relationship Type="http://schemas.openxmlformats.org/officeDocument/2006/relationships/extended-properties" Target="/docProps/app.xml" Id="Rf65357d67337420e" /><Relationship Type="http://schemas.openxmlformats.org/officeDocument/2006/relationships/officeDocument" Target="/ppt/presentation.xml" Id="Rcf6a17747988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91426f701439f"/>
  </p:sldMasterIdLst>
  <p:notesMasterIdLst>
    <p:notesMasterId xmlns:r="http://schemas.openxmlformats.org/officeDocument/2006/relationships" r:id="R895926c69b614a6a"/>
  </p:notesMasterIdLst>
  <p:sldIdLst>
    <p:sldId xmlns:r="http://schemas.openxmlformats.org/officeDocument/2006/relationships" id="256" r:id="Rf22e09bcfa8e45ad"/>
    <p:sldId xmlns:r="http://schemas.openxmlformats.org/officeDocument/2006/relationships" id="257" r:id="R2aa6dbc4192e47e3"/>
    <p:sldId xmlns:r="http://schemas.openxmlformats.org/officeDocument/2006/relationships" id="258" r:id="Rf269d00771a24f29"/>
    <p:sldId xmlns:r="http://schemas.openxmlformats.org/officeDocument/2006/relationships" id="259" r:id="R2742a111b0054156"/>
    <p:sldId xmlns:r="http://schemas.openxmlformats.org/officeDocument/2006/relationships" id="260" r:id="Ra5614310ed164f5b"/>
    <p:sldId xmlns:r="http://schemas.openxmlformats.org/officeDocument/2006/relationships" id="261" r:id="R101ee11d898d4c97"/>
    <p:sldId xmlns:r="http://schemas.openxmlformats.org/officeDocument/2006/relationships" id="262" r:id="Rf89c101547e2450c"/>
    <p:sldId xmlns:r="http://schemas.openxmlformats.org/officeDocument/2006/relationships" id="263" r:id="R89405279df5b414a"/>
    <p:sldId xmlns:r="http://schemas.openxmlformats.org/officeDocument/2006/relationships" id="264" r:id="Rf7524cf4183943cf"/>
    <p:sldId xmlns:r="http://schemas.openxmlformats.org/officeDocument/2006/relationships" id="265" r:id="R20ced4fa761c4154"/>
    <p:sldId xmlns:r="http://schemas.openxmlformats.org/officeDocument/2006/relationships" id="266" r:id="R8dbef1c59364430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91426f701439f" /><Relationship Type="http://schemas.openxmlformats.org/officeDocument/2006/relationships/theme" Target="/ppt/theme/theme1.xml" Id="R267524b93a954ff9" /><Relationship Type="http://schemas.openxmlformats.org/officeDocument/2006/relationships/notesMaster" Target="/ppt/notesMasters/notesMaster1.xml" Id="R895926c69b614a6a" /><Relationship Type="http://schemas.openxmlformats.org/officeDocument/2006/relationships/presProps" Target="/ppt/presProps.xml" Id="R00f4aecb105c40cd" /><Relationship Type="http://schemas.openxmlformats.org/officeDocument/2006/relationships/viewProps" Target="/ppt/viewProps.xml" Id="R29e4672360a34f21" /><Relationship Type="http://schemas.openxmlformats.org/officeDocument/2006/relationships/tableStyles" Target="/ppt/tableStyles.xml" Id="R272fc02c0413470b" /><Relationship Type="http://schemas.openxmlformats.org/officeDocument/2006/relationships/slide" Target="/ppt/slides/slide1.xml" Id="Rf22e09bcfa8e45ad" /><Relationship Type="http://schemas.openxmlformats.org/officeDocument/2006/relationships/slide" Target="/ppt/slides/slide2.xml" Id="R2aa6dbc4192e47e3" /><Relationship Type="http://schemas.openxmlformats.org/officeDocument/2006/relationships/slide" Target="/ppt/slides/slide3.xml" Id="Rf269d00771a24f29" /><Relationship Type="http://schemas.openxmlformats.org/officeDocument/2006/relationships/slide" Target="/ppt/slides/slide4.xml" Id="R2742a111b0054156" /><Relationship Type="http://schemas.openxmlformats.org/officeDocument/2006/relationships/slide" Target="/ppt/slides/slide5.xml" Id="Ra5614310ed164f5b" /><Relationship Type="http://schemas.openxmlformats.org/officeDocument/2006/relationships/slide" Target="/ppt/slides/slide6.xml" Id="R101ee11d898d4c97" /><Relationship Type="http://schemas.openxmlformats.org/officeDocument/2006/relationships/slide" Target="/ppt/slides/slide7.xml" Id="Rf89c101547e2450c" /><Relationship Type="http://schemas.openxmlformats.org/officeDocument/2006/relationships/slide" Target="/ppt/slides/slide8.xml" Id="R89405279df5b414a" /><Relationship Type="http://schemas.openxmlformats.org/officeDocument/2006/relationships/slide" Target="/ppt/slides/slide9.xml" Id="Rf7524cf4183943cf" /><Relationship Type="http://schemas.openxmlformats.org/officeDocument/2006/relationships/slide" Target="/ppt/slides/slide10.xml" Id="R20ced4fa761c4154" /><Relationship Type="http://schemas.openxmlformats.org/officeDocument/2006/relationships/slide" Target="/ppt/slides/slide11.xml" Id="R8dbef1c59364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84f22aef4b40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96b46fd3a46a9" /><Relationship Type="http://schemas.openxmlformats.org/officeDocument/2006/relationships/notesMaster" Target="/ppt/notesMasters/notesMaster1.xml" Id="Rfac19edd489e4a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de77dfabc44169" /><Relationship Type="http://schemas.openxmlformats.org/officeDocument/2006/relationships/notesMaster" Target="/ppt/notesMasters/notesMaster1.xml" Id="R5b8934e7651a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ab2184749e4d98" /><Relationship Type="http://schemas.openxmlformats.org/officeDocument/2006/relationships/notesMaster" Target="/ppt/notesMasters/notesMaster1.xml" Id="Rf9c69c1fe28742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4bf31ded94342" /><Relationship Type="http://schemas.openxmlformats.org/officeDocument/2006/relationships/notesMaster" Target="/ppt/notesMasters/notesMaster1.xml" Id="Rf28bad0bd466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9ed88848064502" /><Relationship Type="http://schemas.openxmlformats.org/officeDocument/2006/relationships/notesMaster" Target="/ppt/notesMasters/notesMaster1.xml" Id="Ra56f4b52886a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34b786919a4e37" /><Relationship Type="http://schemas.openxmlformats.org/officeDocument/2006/relationships/notesMaster" Target="/ppt/notesMasters/notesMaster1.xml" Id="R9514b9a8ab12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68c24acadd4a7d" /><Relationship Type="http://schemas.openxmlformats.org/officeDocument/2006/relationships/notesMaster" Target="/ppt/notesMasters/notesMaster1.xml" Id="Reab4c698737142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031daf87044801" /><Relationship Type="http://schemas.openxmlformats.org/officeDocument/2006/relationships/notesMaster" Target="/ppt/notesMasters/notesMaster1.xml" Id="R71126c50143747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cea20b7a44de5" /><Relationship Type="http://schemas.openxmlformats.org/officeDocument/2006/relationships/notesMaster" Target="/ppt/notesMasters/notesMaster1.xml" Id="Rab84c90ae5534b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12b53634214d01" /><Relationship Type="http://schemas.openxmlformats.org/officeDocument/2006/relationships/notesMaster" Target="/ppt/notesMasters/notesMaster1.xml" Id="Rbdb528596a97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efc0a0a3824228" /><Relationship Type="http://schemas.openxmlformats.org/officeDocument/2006/relationships/notesMaster" Target="/ppt/notesMasters/notesMaster1.xml" Id="R7ce1046164d8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e21c8457e4d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a34971f13a4f7d" /><Relationship Type="http://schemas.openxmlformats.org/officeDocument/2006/relationships/slideLayout" Target="/ppt/slideLayouts/slideLayout2.xml" Id="Rae98ef53ebcc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98ef53ebcc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8efb15d08454a" /><Relationship Type="http://schemas.openxmlformats.org/officeDocument/2006/relationships/notesSlide" Target="/ppt/notesSlides/notesSlide1.xml" Id="R515d781b1e0c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1998bd33d433d" /><Relationship Type="http://schemas.openxmlformats.org/officeDocument/2006/relationships/notesSlide" Target="/ppt/notesSlides/notesSlide2.xml" Id="R24e0d63b6a22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4503e5187a456c" /><Relationship Type="http://schemas.openxmlformats.org/officeDocument/2006/relationships/notesSlide" Target="/ppt/notesSlides/notesSlide3.xml" Id="R35cbf28bfb8e42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a903f29c24198" /><Relationship Type="http://schemas.openxmlformats.org/officeDocument/2006/relationships/notesSlide" Target="/ppt/notesSlides/notesSlide4.xml" Id="R9cc526b638414a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edd01d4f14c28" /><Relationship Type="http://schemas.openxmlformats.org/officeDocument/2006/relationships/notesSlide" Target="/ppt/notesSlides/notesSlide5.xml" Id="Rbd6408aa5fbf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2b77f948c64aaf" /><Relationship Type="http://schemas.openxmlformats.org/officeDocument/2006/relationships/notesSlide" Target="/ppt/notesSlides/notesSlide6.xml" Id="R451e05bc635f4b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8139030bb483c" /><Relationship Type="http://schemas.openxmlformats.org/officeDocument/2006/relationships/chart" Target="/ppt/slides/charts/chart1.xml" Id="Rad59049201da47ac" /><Relationship Type="http://schemas.openxmlformats.org/officeDocument/2006/relationships/notesSlide" Target="/ppt/notesSlides/notesSlide7.xml" Id="R3f2a95e7a22440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9ee2cec744f2e" /><Relationship Type="http://schemas.openxmlformats.org/officeDocument/2006/relationships/image" Target="/ppt/media/image.png" Id="R752fbf1a2c3e44ce" /><Relationship Type="http://schemas.openxmlformats.org/officeDocument/2006/relationships/notesSlide" Target="/ppt/notesSlides/notesSlide8.xml" Id="R894d6e8a65774c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52ddccac074210" /><Relationship Type="http://schemas.openxmlformats.org/officeDocument/2006/relationships/image" Target="/ppt/media/image2.png" Id="R7b8f5eea494e4011" /><Relationship Type="http://schemas.openxmlformats.org/officeDocument/2006/relationships/notesSlide" Target="/ppt/notesSlides/notesSlide9.xml" Id="R7b10ee1ff96f4c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77621d0d04c85" /><Relationship Type="http://schemas.openxmlformats.org/officeDocument/2006/relationships/notesSlide" Target="/ppt/notesSlides/notesSlide10.xml" Id="R18e9a026866942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62162e2e884ab7" /><Relationship Type="http://schemas.openxmlformats.org/officeDocument/2006/relationships/notesSlide" Target="/ppt/notesSlides/notesSlide11.xml" Id="R2ebe9854c2674b5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Small</c:v>
          </c:tx>
          <c:spPr>
            <a:solidFill xmlns:a="http://schemas.openxmlformats.org/drawingml/2006/main">
              <a:srgbClr val="E0A526"/>
            </a:solidFill>
          </c:spPr>
          <c:cat>
            <c:strLit>
              <c:ptCount val="4"/>
              <c:pt idx="0">
                <c:v>FD001 RMSE</c:v>
              </c:pt>
              <c:pt idx="1">
                <c:v>FD001 MAE</c:v>
              </c:pt>
              <c:pt idx="2">
                <c:v>FD003 RMSE</c:v>
              </c:pt>
              <c:pt idx="3">
                <c:v>FD003 MAE</c:v>
              </c:pt>
            </c:strLit>
          </c:cat>
          <c:val>
            <c:numLit>
              <c:formatCode/>
              <c:ptCount val="4"/>
              <c:pt idx="0">
                <c:v>15.09</c:v>
              </c:pt>
              <c:pt idx="1">
                <c:v>11.35</c:v>
              </c:pt>
              <c:pt idx="2">
                <c:v>16.9</c:v>
              </c:pt>
              <c:pt idx="3">
                <c:v>12.05</c:v>
              </c:pt>
            </c:numLit>
          </c:val>
        </c:ser>
        <c:ser>
          <c:idx val="1"/>
          <c:order val="1"/>
          <c:tx>
            <c:v>Large</c:v>
          </c:tx>
          <c:spPr>
            <a:solidFill xmlns:a="http://schemas.openxmlformats.org/drawingml/2006/main">
              <a:srgbClr val="4257B2"/>
            </a:solidFill>
          </c:spPr>
          <c:cat>
            <c:strLit>
              <c:ptCount val="4"/>
              <c:pt idx="0">
                <c:v>FD001 RMSE</c:v>
              </c:pt>
              <c:pt idx="1">
                <c:v>FD001 MAE</c:v>
              </c:pt>
              <c:pt idx="2">
                <c:v>FD003 RMSE</c:v>
              </c:pt>
              <c:pt idx="3">
                <c:v>FD003 MAE</c:v>
              </c:pt>
            </c:strLit>
          </c:cat>
          <c:val>
            <c:numLit>
              <c:formatCode/>
              <c:ptCount val="4"/>
              <c:pt idx="0">
                <c:v>14.11</c:v>
              </c:pt>
              <c:pt idx="1">
                <c:v>10.62</c:v>
              </c:pt>
              <c:pt idx="2">
                <c:v>15.05</c:v>
              </c:pt>
              <c:pt idx="3">
                <c:v>10.62</c:v>
              </c:pt>
            </c:numLit>
          </c:val>
        </c:ser>
        <c:ser>
          <c:idx val="2"/>
          <c:order val="2"/>
          <c:tx>
            <c:v>CoLLM-C</c:v>
          </c:tx>
          <c:spPr>
            <a:solidFill xmlns:a="http://schemas.openxmlformats.org/drawingml/2006/main">
              <a:srgbClr val="087E8B"/>
            </a:solidFill>
          </c:spPr>
          <c:cat>
            <c:strLit>
              <c:ptCount val="4"/>
              <c:pt idx="0">
                <c:v>FD001 RMSE</c:v>
              </c:pt>
              <c:pt idx="1">
                <c:v>FD001 MAE</c:v>
              </c:pt>
              <c:pt idx="2">
                <c:v>FD003 RMSE</c:v>
              </c:pt>
              <c:pt idx="3">
                <c:v>FD003 MAE</c:v>
              </c:pt>
            </c:strLit>
          </c:cat>
          <c:val>
            <c:numLit>
              <c:formatCode/>
              <c:ptCount val="4"/>
              <c:pt idx="0">
                <c:v>14.08</c:v>
              </c:pt>
              <c:pt idx="1">
                <c:v>10.58</c:v>
              </c:pt>
              <c:pt idx="2">
                <c:v>15.02</c:v>
              </c:pt>
              <c:pt idx="3">
                <c:v>10.56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  <a:prstDash val="solid"/>
            </a:ln>
          </c:spPr>
        </c:majorGridlines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RMSE / MAE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/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67FAC-53F5-431F-A3E3-018772D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3335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F290C-4973-4503-85D3-024F082C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02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复现项目汇报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C83F2-E32F-408A-BBDC-425E903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38550"/>
            <a:ext cx="1362837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2B44F-56F2-414B-B7E1-917867C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FD001 + FD003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38D39E5-48F0-4558-9840-CBB6075A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000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8212F"/>
                </a:solidFill>
              </a:defRPr>
            </a:pPr>
            <a:r>
              <a:rPr sz="5250" b="1">
                <a:solidFill>
                  <a:srgbClr val="18212F"/>
                </a:solidFill>
              </a:rPr>
              <a:t>CoLLM 复现项目汇报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78B716-19EA-48BE-8F79-0D747F40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472"/>
                </a:solidFill>
              </a:defRPr>
            </a:pPr>
            <a:r>
              <a:rPr sz="2250">
                <a:solidFill>
                  <a:srgbClr val="5B6472"/>
                </a:solidFill>
              </a:rPr>
              <a:t>从论文算法到可运行训练、测试与误差分析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CB2A295F-E30C-4B8F-95FD-D08AA081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8" name="cover-evidence">
            <a:extLst xmlns:a="http://schemas.openxmlformats.org/drawingml/2006/main">
              <a:ext uri="{FF2B5EF4-FFF2-40B4-BE49-F238E27FC236}">
                <a16:creationId xmlns:a16="http://schemas.microsoft.com/office/drawing/2014/main" id="{B67C03D8-AACA-4E6F-A030-77334E16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6750"/>
            <a:ext cx="7286625" cy="8801100"/>
          </a:xfrm>
          <a:prstGeom xmlns:a="http://schemas.openxmlformats.org/drawingml/2006/main" prst="roundRect">
            <a:avLst>
              <a:gd name="adj" fmla="val 1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27FCE-073D-46E1-92FD-3553B248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52500"/>
            <a:ext cx="672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8B"/>
                </a:solidFill>
              </a:defRPr>
            </a:pPr>
            <a:r>
              <a:rPr sz="2550" b="1">
                <a:solidFill>
                  <a:srgbClr val="087E8B"/>
                </a:solidFill>
              </a:rPr>
              <a:t>当前复现状态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4F53F-96C6-4595-BEDD-D51FD82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447800"/>
            <a:ext cx="3357563" cy="38671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27E8E-E0FB-4E59-8199-7417284B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57350"/>
            <a:ext cx="289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FD001 CoLLM-C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CAF3B-D527-479F-B02C-095A1E3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0"/>
            <a:ext cx="289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14.08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EFFC-7527-4DD9-9589-881DCE5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14600"/>
            <a:ext cx="289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RMSE，严格论文阈值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40EAE-B1E5-4C96-ACBC-15F798C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1447800"/>
            <a:ext cx="3357563" cy="38671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81DE0-0EA0-4A04-9BA4-406993E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657350"/>
            <a:ext cx="289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FD003 CoLLM-C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50A3A-AC56-429C-BD4D-40DA218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0"/>
            <a:ext cx="289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15.02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CF9BD-FD00-4870-BFEA-E583301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514600"/>
            <a:ext cx="289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RMSE，已加入训练与测试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32E97-19C9-47D2-B1FE-7221764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314950"/>
            <a:ext cx="3357563" cy="38671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13AD6-DC6F-4F53-A855-A62E96E2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24500"/>
            <a:ext cx="289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窗口 / RUL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4B047-DA72-4D0C-B710-E70EAC7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772150"/>
            <a:ext cx="289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50 / 125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504C9-F4BA-46F0-AF1A-3E45FA8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81750"/>
            <a:ext cx="289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滑窗长度与 RUL 截断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58EF3-C42F-4836-A204-4CCA63E2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638" y="5314950"/>
            <a:ext cx="3357563" cy="38671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286C0-AFFD-49C1-BCB8-005CD51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524500"/>
            <a:ext cx="289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GPU 环境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3882B-0EF1-4FDB-A8A6-6BEC9B2F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772150"/>
            <a:ext cx="289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CUDA 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C897A-CC9F-4C5E-8A2E-60A62379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381750"/>
            <a:ext cx="289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collm_env 可训练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7DED8-2AF5-453F-B7B6-8E90145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67850"/>
            <a:ext cx="14744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项目路径：C:\Users\Administrator\Desktop\CoLLM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99B76-48D5-48E5-938D-7E987AFB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467850"/>
            <a:ext cx="1981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汇报对象：导师项目进展汇报</a:t>
            </a:r>
          </a:p>
        </p:txBody>
      </p:sp>
    </p:spTree>
    <p:extLst>
      <p:ext uri="{BB962C8B-B14F-4D97-AF65-F5344CB8AC3E}">
        <p14:creationId xmlns:p14="http://schemas.microsoft.com/office/powerpoint/2010/main" val="892001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43EE40-CBA1-45A2-BC88-63160B0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本次汇报只讲复现项目进展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6F04BF-C526-4149-B1F0-792443C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23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论文内容已经汇报过，本页把汇报边界先收清楚。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88537-4CBE-42E0-AEC1-5862B72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458200" cy="7648575"/>
          </a:xfrm>
          <a:prstGeom xmlns:a="http://schemas.openxmlformats.org/drawingml/2006/main" prst="roundRect">
            <a:avLst>
              <a:gd name="adj" fmla="val 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D7744-BA75-4E3C-B2FE-4EA7DBA8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1675"/>
            <a:ext cx="9906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CA558-ED13-44A7-A729-D3D33A0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631C-6962-4E26-8ECA-F0402EE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81C82-F217-45D5-A5A1-0798E22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7486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基于论文思路实现 Small / Large / Fuzzy Decision / Self-Reflection 的训练与测试闭环。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3CA7F-A7C9-4761-800C-EA02F9E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73ABC-6A80-4901-9692-D94CE76D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748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修复环境、GPU、数据处理、模型权重加载、阈值配置和 FD003 数据集支持。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778E3-BED2-4182-A761-2CCFC5D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9BA92-61A9-43E8-AA4F-9F5CC4B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748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形成可复跑命令与结果图，FD001 与 FD003 均能得到完整指标。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5EC18-3C36-4141-82BB-D9AABA2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8458200" cy="7648575"/>
          </a:xfrm>
          <a:prstGeom xmlns:a="http://schemas.openxmlformats.org/drawingml/2006/main" prst="roundRect">
            <a:avLst>
              <a:gd name="adj" fmla="val 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D56DA-2D48-466C-8837-FBFB099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71675"/>
            <a:ext cx="9906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AF97F-5DC0-4E4D-A13E-0761241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重点说明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F7710-CB12-452A-989F-C64C9E6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0507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00C84-BBF2-4816-AA89-AB457F31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7486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严格保留论文算法思想：小模型先判、模糊阈值分流、大模型兜底、自反思再判断。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68D3E-4DFC-4792-84D5-3883A9B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A0D3-F039-4E76-BF7A-EA85ADB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748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结果没有人为调参追指标，默认采用论文 A/B/C 阈值设置。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043C7-9C0B-417C-8974-09D708FD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62835-6A52-40E8-8677-3A79BEC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67100"/>
            <a:ext cx="748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当前差距主要来自可复现工程与论文原实现/预训练资源之间的差异。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AF1777F9-F8D8-402B-B90A-1441B8AD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6D2B4A-0DF4-424B-A1DE-70B7D0A7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4857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1E8E1E-896B-4EE7-8E31-FE4C3EE9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复现系统结构：小模型先筛，大模型补强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886BFA-2941-41F0-9ABC-62150E4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项目把论文中的协作推理流程落成了可训练、可评测的代码链路。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5A7A-7D9A-4272-B127-679A0C9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819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3F12-72D2-4A42-9A9F-64BDCEAE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43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B"/>
                </a:solidFill>
              </a:defRPr>
            </a:pPr>
            <a:r>
              <a:rPr sz="2175" b="1">
                <a:solidFill>
                  <a:srgbClr val="087E8B"/>
                </a:solidFill>
              </a:rPr>
              <a:t>CMAPSS</a:t>
            </a:r>
          </a:p>
          <a:p xmlns:a="http://schemas.openxmlformats.org/drawingml/2006/main">
            <a:pPr>
              <a:defRPr sz="2175" b="1">
                <a:solidFill>
                  <a:srgbClr val="087E8B"/>
                </a:solidFill>
              </a:defRPr>
            </a:pPr>
            <a:r>
              <a:rPr sz="2175" b="1">
                <a:solidFill>
                  <a:srgbClr val="087E8B"/>
                </a:solidFill>
              </a:rPr>
              <a:t>滑窗样本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9B708-48DF-49C0-8470-65C5380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270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F8E97-5F34-43B6-A2A3-F463C28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2819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FE53B-15D4-4E75-94C5-BC93B9E3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243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12F"/>
                </a:solidFill>
              </a:defRPr>
            </a:pPr>
            <a:r>
              <a:rPr sz="2175" b="1">
                <a:solidFill>
                  <a:srgbClr val="18212F"/>
                </a:solidFill>
              </a:rPr>
              <a:t>SmallModel</a:t>
            </a:r>
          </a:p>
          <a:p xmlns:a="http://schemas.openxmlformats.org/drawingml/2006/main">
            <a:pPr>
              <a:defRPr sz="2175" b="1">
                <a:solidFill>
                  <a:srgbClr val="18212F"/>
                </a:solidFill>
              </a:defRPr>
            </a:pPr>
            <a:r>
              <a:rPr sz="2175" b="1">
                <a:solidFill>
                  <a:srgbClr val="18212F"/>
                </a:solidFill>
              </a:rPr>
              <a:t>快速预测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EFE37-F851-4413-9A65-08661089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F8905-587B-4FC6-9AA2-E807290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76400"/>
            <a:ext cx="2819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F843D-36AA-4E26-A214-639E8C9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243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45A4F"/>
                </a:solidFill>
              </a:defRPr>
            </a:pPr>
            <a:r>
              <a:rPr sz="2175" b="1">
                <a:solidFill>
                  <a:srgbClr val="E45A4F"/>
                </a:solidFill>
              </a:rPr>
              <a:t>模糊决策</a:t>
            </a:r>
          </a:p>
          <a:p xmlns:a="http://schemas.openxmlformats.org/drawingml/2006/main">
            <a:pPr>
              <a:defRPr sz="2175" b="1">
                <a:solidFill>
                  <a:srgbClr val="E45A4F"/>
                </a:solidFill>
              </a:defRPr>
            </a:pPr>
            <a:r>
              <a:rPr sz="2175" b="1">
                <a:solidFill>
                  <a:srgbClr val="E45A4F"/>
                </a:solidFill>
              </a:rPr>
              <a:t>阈值 A/B/C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C2DDD-7D5D-440C-9C6C-02533B5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5270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261F9-B4B9-40C4-8084-51E0DE0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676400"/>
            <a:ext cx="2819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7EB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6DB8D-B308-4791-9746-BE566A9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866900"/>
            <a:ext cx="243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57B2"/>
                </a:solidFill>
              </a:defRPr>
            </a:pPr>
            <a:r>
              <a:rPr sz="2175" b="1">
                <a:solidFill>
                  <a:srgbClr val="4257B2"/>
                </a:solidFill>
              </a:rPr>
              <a:t>LargeModel</a:t>
            </a:r>
          </a:p>
          <a:p xmlns:a="http://schemas.openxmlformats.org/drawingml/2006/main">
            <a:pPr>
              <a:defRPr sz="2175" b="1">
                <a:solidFill>
                  <a:srgbClr val="4257B2"/>
                </a:solidFill>
              </a:defRPr>
            </a:pPr>
            <a:r>
              <a:rPr sz="2175" b="1">
                <a:solidFill>
                  <a:srgbClr val="4257B2"/>
                </a:solidFill>
              </a:rPr>
              <a:t>One Fits 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E09CC-E70E-439B-9100-E6A9BFB5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255270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928CC-0B00-4CBD-8AAB-6C88E36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1676400"/>
            <a:ext cx="2819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5689C-B114-487A-B348-1163650D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1866900"/>
            <a:ext cx="2438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12F"/>
                </a:solidFill>
              </a:defRPr>
            </a:pPr>
            <a:r>
              <a:rPr sz="2175" b="1">
                <a:solidFill>
                  <a:srgbClr val="18212F"/>
                </a:solidFill>
              </a:rPr>
              <a:t>自反思</a:t>
            </a:r>
          </a:p>
          <a:p xmlns:a="http://schemas.openxmlformats.org/drawingml/2006/main">
            <a:pPr>
              <a:defRPr sz="2175" b="1">
                <a:solidFill>
                  <a:srgbClr val="18212F"/>
                </a:solidFill>
              </a:defRPr>
            </a:pPr>
            <a:r>
              <a:rPr sz="2175" b="1">
                <a:solidFill>
                  <a:srgbClr val="18212F"/>
                </a:solidFill>
              </a:rPr>
              <a:t>最终 RUL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B45FF-7C5D-4AAD-9544-78BC9DA4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638800" cy="5267325"/>
          </a:xfrm>
          <a:prstGeom xmlns:a="http://schemas.openxmlformats.org/drawingml/2006/main" prst="roundRect">
            <a:avLst>
              <a:gd name="adj" fmla="val 1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8448D-9E2F-4478-9E68-724CB67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18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低风险样本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85BA2-FEF5-414B-959F-D6C3661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18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Small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FE86B-4F68-4A75-9DD2-5D460ACA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518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保留小模型高效率路径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53C12-43C1-44FB-89CC-9AD7A1F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638800" cy="5267325"/>
          </a:xfrm>
          <a:prstGeom xmlns:a="http://schemas.openxmlformats.org/drawingml/2006/main" prst="roundRect">
            <a:avLst>
              <a:gd name="adj" fmla="val 1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D5103-30CB-40C5-88AF-2D269555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518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不确定样本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61822-D17E-448E-81E3-288B454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518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Large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E4BF9-269C-4941-A801-B4371899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518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交给大模型增强预测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A5073-5F4D-4689-82E4-9D43E04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048125"/>
            <a:ext cx="5638800" cy="5267325"/>
          </a:xfrm>
          <a:prstGeom xmlns:a="http://schemas.openxmlformats.org/drawingml/2006/main" prst="roundRect">
            <a:avLst>
              <a:gd name="adj" fmla="val 1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21CA8-627F-4090-B9CE-BAC7F5B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67200"/>
            <a:ext cx="518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阈值策略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43865-5A9D-4B35-8BA8-CDA7CE3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14850"/>
            <a:ext cx="518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A / B /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0C832-B9E2-4AB5-B801-72DEF9F6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124450"/>
            <a:ext cx="518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严格沿用论文模糊决策设定</a:t>
            </a:r>
          </a:p>
        </p:txBody>
      </p:sp>
      <p:sp>
        <p:nvSpPr>
          <p:cNvPr id="29" name="source">
            <a:extLst xmlns:a="http://schemas.openxmlformats.org/drawingml/2006/main">
              <a:ext uri="{FF2B5EF4-FFF2-40B4-BE49-F238E27FC236}">
                <a16:creationId xmlns:a16="http://schemas.microsoft.com/office/drawing/2014/main" id="{9C01FC6E-37EB-4F97-B9DB-034BC49C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7B0212-2834-4195-BAB5-89C20DD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56683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EAF18A-EAFC-4684-B55B-244DF77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代码落地点：复现实验已经模块化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48B100-A0DC-49C0-85B4-EFBDFD5A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关键文件不再只是脚本堆叠，而是围绕数据、模型、训练、评估四条线组织。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86A33-5CF8-40A1-9F5D-0B64B5E5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458200" cy="3824288"/>
          </a:xfrm>
          <a:prstGeom xmlns:a="http://schemas.openxmlformats.org/drawingml/2006/main" prst="roundRect">
            <a:avLst>
              <a:gd name="adj" fmla="val 1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38EFD-CC08-407F-8E4F-222CA5A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8191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F679B-DB99-4DBC-81D6-24ACE8F9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配置层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7AA49-607B-46B5-971E-56A6C63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924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config.py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9B251-3FD9-4C1D-8454-A1CE456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新增论文阈值预设 A/B/C，并按 FD001、FD003 分别取阈值。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84D7E-74AD-4D9F-AE40-523D0E2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8458200" cy="3824288"/>
          </a:xfrm>
          <a:prstGeom xmlns:a="http://schemas.openxmlformats.org/drawingml/2006/main" prst="roundRect">
            <a:avLst>
              <a:gd name="adj" fmla="val 1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F2AB8-1A60-40E9-85D4-1352285C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33575"/>
            <a:ext cx="8191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12E6E-68C8-46AD-98E1-F35926E9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数据层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3E1F0-B214-442C-94DF-044997D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datasets/cmapss.py</a:t>
            </a:r>
          </a:p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 datasets/cmapss_test.py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E079B-E091-4D65-BD22-A6B5DB8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统一传感器选择、RUL cap=125、训练统计量复用和测试标签裁剪。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C18DE-38CF-47E5-BE20-6A8475D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1163"/>
            <a:ext cx="8458200" cy="3824288"/>
          </a:xfrm>
          <a:prstGeom xmlns:a="http://schemas.openxmlformats.org/drawingml/2006/main" prst="roundRect">
            <a:avLst>
              <a:gd name="adj" fmla="val 1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19D5E-A5A9-4BE1-9703-820BCCE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7863"/>
            <a:ext cx="8191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EB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D9373-E198-4724-B1A2-E8139BA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模型层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70718-B7F5-4A35-921D-9B0485D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7924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models/small.py</a:t>
            </a:r>
          </a:p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 models/one_fits_all_ts.py</a:t>
            </a:r>
          </a:p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 models/collm.py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C90D8-DC75-42DE-BADE-EAA9C53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990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实现小模型、One Fits All 风格大模型、CoLLM 路由细节返回。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F1654-DB43-4507-85F7-91D7F3D9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1163"/>
            <a:ext cx="8458200" cy="3824288"/>
          </a:xfrm>
          <a:prstGeom xmlns:a="http://schemas.openxmlformats.org/drawingml/2006/main" prst="roundRect">
            <a:avLst>
              <a:gd name="adj" fmla="val 1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8EF8C-3607-4FAB-B700-235CE89E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57863"/>
            <a:ext cx="9906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6C873-48E0-4CDF-8D2D-C9B0CDD2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82930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训练评估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6CFCB-0CEF-49B5-BAE1-D03D412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9125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train/train_all.py</a:t>
            </a:r>
          </a:p>
          <a:p xmlns:a="http://schemas.openxmlformats.org/drawingml/2006/main">
            <a:pPr>
              <a:defRPr sz="1350">
                <a:solidFill>
                  <a:srgbClr val="18212F"/>
                </a:solidFill>
              </a:defRPr>
            </a:pPr>
            <a:r>
              <a:rPr sz="1350">
                <a:solidFill>
                  <a:srgbClr val="18212F"/>
                </a:solidFill>
              </a:rPr>
              <a:t> eval_test.py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DE906-FE88-4269-A6BA-960450F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648450"/>
            <a:ext cx="792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支持 --subset FD001/FD003、训练阶段选择、阈值预设、结果图输出。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0C72A17D-C6B1-414C-A46A-DC2031D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AA2EC9-7A04-4F68-A7D6-4D25876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65499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145008-B20D-457C-9A0F-041E0BA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数据与训练协议：尽量对齐论文设定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019A37-34CC-41D5-BE3F-23EFED3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153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这页是我向老师说明“没有为了结果乱改算法”的核心证据。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DD1C-3650-46E1-99A0-BD140A3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304020" cy="7648575"/>
          </a:xfrm>
          <a:prstGeom xmlns:a="http://schemas.openxmlformats.org/drawingml/2006/main" prst="roundRect">
            <a:avLst>
              <a:gd name="adj" fmla="val 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D33CF-FF85-4A09-A132-F3D3AD1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1675"/>
            <a:ext cx="9906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79076-E81E-41AE-8175-4743B493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数据处理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EC81F-EBCF-4FF7-AE04-B8945A0C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945AF-784B-41A4-9B5B-735F3A3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1828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A945-DA57-4E2D-8B03-AB9FEB6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860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F79E3-5C16-452B-9230-121C915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421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复现设置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06F42-FF42-4F0A-9129-DFD4DF1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F75D8-E896-405D-A3DB-9DC1125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数据集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33944-97C5-42A4-A0C7-EA10A6D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5F887-2B3C-45DB-AC92-37B9A0AD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CMAPSS FD001 / FD003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19DA5-A4DB-4490-8B46-AF93492B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33F74-3F37-43AC-91CE-4EBC9E7A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传感器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9A158-8F50-45AC-91B0-221EECF5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909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5DB14-B54C-4BDF-82C2-3C6D6963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14 个论文相关传感器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416C2-4A64-4545-B4EC-0A7E122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3DF60-33EB-41DA-9EBD-33F2607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65CA2-7CDA-4744-9A01-80939B0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4337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6B9DB-5F2D-4CCF-8E1C-F387F1E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window=50, stride=1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80335-3F28-4BE9-A9AC-BCA25B6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DD67C-0D81-411B-996F-BF536CB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RUL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C09C3-8364-40E5-B320-055675A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958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07303-FB16-4A0F-90C9-DFEBE9C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006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最大值截断为 125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1EF7-F315-488A-B94C-F012B9DD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482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64BAC7-26D4-49BE-8833-79B32DDA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归一化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68791-0E42-49E0-9CDB-13170B3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4827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94E62-2177-493F-8535-2B881C4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5305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训练统计量复用于测试集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F13FD-FE99-4C4A-A3C2-5121C1F2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1666875"/>
            <a:ext cx="7612380" cy="2435225"/>
          </a:xfrm>
          <a:prstGeom xmlns:a="http://schemas.openxmlformats.org/drawingml/2006/main" prst="roundRect">
            <a:avLst>
              <a:gd name="adj" fmla="val 2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CF0A6-685E-4D79-A56B-FDCAC9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859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训练阶段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F09007-7101-4E82-821F-FD19000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336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EB49B-FA8E-4418-9EE6-C419208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432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Small → Large → 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3FCA78-57C6-49A3-AC25-64988C33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4273550"/>
            <a:ext cx="7612380" cy="2435225"/>
          </a:xfrm>
          <a:prstGeom xmlns:a="http://schemas.openxmlformats.org/drawingml/2006/main" prst="roundRect">
            <a:avLst>
              <a:gd name="adj" fmla="val 2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1AC37-7AC8-4C95-B3D2-76342E8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767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路由策略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4A701-4BA1-4D08-9072-19DBD2E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244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917CA-E44B-4A14-9E38-ED393D0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340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默认采用论文严格阈值预设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921C6E-D381-41E9-B454-C79D753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6880225"/>
            <a:ext cx="7612380" cy="2435225"/>
          </a:xfrm>
          <a:prstGeom xmlns:a="http://schemas.openxmlformats.org/drawingml/2006/main" prst="roundRect">
            <a:avLst>
              <a:gd name="adj" fmla="val 2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1402F6-8A96-4CCA-BB12-A191D080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08660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验证原则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B08925-9DA6-4E23-AF2A-633E99A4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33425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官方测试集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49BA8D-5C65-4AF1-959B-1175E008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94385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报告 RMSE / MAE / 路由比例</a:t>
            </a:r>
          </a:p>
        </p:txBody>
      </p:sp>
      <p:sp>
        <p:nvSpPr>
          <p:cNvPr id="42" name="source">
            <a:extLst xmlns:a="http://schemas.openxmlformats.org/drawingml/2006/main">
              <a:ext uri="{FF2B5EF4-FFF2-40B4-BE49-F238E27FC236}">
                <a16:creationId xmlns:a16="http://schemas.microsoft.com/office/drawing/2014/main" id="{D5ECC145-941A-4C81-A379-2EAF1F8A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E368C8-9BA2-4C2F-AD4D-7C3920A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91169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650BA9-7970-4CE4-8562-0540FF89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关键调试记录：从跑不通到可复跑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7AD491-B2C8-4BD8-8629-FD44583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01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这部分适合解释复现项目中的真实工程工作量。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45632-D286-4337-B8B6-3CF5E42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A18DE-0CA1-4C2F-99DB-94398AB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配置 conda 环境 collm_env，并升级到可支持 RTX 5060 Ti 的 PyTorch/CUDA 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78B2C-4EA9-49E4-9A31-8A038075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3C085-7AD4-42A4-9FA4-683ABFF6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修复权重结构不一致问题，避免 SmallModel 与已有 checkpoint 互相不兼容。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4A63A-994E-44DA-AF79-8114649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53B24-256D-403C-93ED-5F2043B8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恢复 One Fits All 风格大模型，使 LargeModel 能按论文路径参与路由。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E6A9E-4C64-46D4-9016-80944CAA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C767C-E0E8-4722-9828-AD924BA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修复测试集 RUL 未裁剪导致的指标偏移，统一 FD001/FD003 的评估协议。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0B1AD-AFC1-45EC-BC98-209B576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B6F19-976E-4E1D-A714-44E16FD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把 FD003 的训练、测试、统计量路径纳入同一套命令参数。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22C44-D6FA-45A3-9170-C0B9CDD2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07B06-729E-4F6B-8CC7-DF1C6D6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让 eval_test.py 输出每个模型与 CoLLM 路由后的指标、预测图和误差图。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66C66-FC1F-4F42-8990-3AD80EB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81628-4389-4C71-BB08-28FA47B9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训练 confidence 分支，使自反思路由不是简单固定分配。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4984A-780B-46DA-8F81-B477CCF9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095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5A4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5C804-7164-4F5E-AB9F-1D8AAB1D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保留论文阈值 A/B/C，默认报告严格论文策略而非私自搜索最优阈值。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1FCF44F1-8244-45F6-BBE0-8AE78A2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2AF25D-CA01-4449-87B1-C6A4EA9F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2817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C9A611-3531-4686-9077-4C202F9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结果总览：严格论文阈值 C 下的当前复现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A733A6-93C4-4E46-812E-41A914A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指标已经能复跑，但和论文报告值仍有差距；差距不通过违背算法的调参去掩盖。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E2318-BA27-4F25-A492-56366283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458200" cy="7648575"/>
          </a:xfrm>
          <a:prstGeom xmlns:a="http://schemas.openxmlformats.org/drawingml/2006/main" prst="roundRect">
            <a:avLst>
              <a:gd name="adj" fmla="val 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E0FC1-DAAB-4A91-A1EE-248D37C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800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F"/>
                </a:solidFill>
              </a:defRPr>
            </a:pPr>
            <a:r>
              <a:rPr sz="2550" b="1">
                <a:solidFill>
                  <a:srgbClr val="18212F"/>
                </a:solidFill>
              </a:rPr>
              <a:t>复现模型对比</a:t>
            </a:r>
          </a:p>
        </p:txBody>
      </p:sp>
      <p:graphicFrame>
        <p:nvGraphicFramePr>
          <p:cNvPr id="5" name="rmse-mae-chart"/>
          <p:cNvGraphicFramePr/>
          <p:nvPr/>
        </p:nvGraphicFramePr>
        <p:xfrm>
          <a:off xmlns:a="http://schemas.openxmlformats.org/drawingml/2006/main" x="914400" y="2390775"/>
          <a:ext xmlns:a="http://schemas.openxmlformats.org/drawingml/2006/main" cx="8001000" cy="669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59049201da47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14F7F-73A4-4DD7-B777-B6ED4D5F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8458200" cy="7648575"/>
          </a:xfrm>
          <a:prstGeom xmlns:a="http://schemas.openxmlformats.org/drawingml/2006/main" prst="roundRect">
            <a:avLst>
              <a:gd name="adj" fmla="val 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7B8B4-E3C9-49FA-99A9-DFC00C2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05000"/>
            <a:ext cx="800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F"/>
                </a:solidFill>
              </a:defRPr>
            </a:pPr>
            <a:r>
              <a:rPr sz="2550" b="1">
                <a:solidFill>
                  <a:srgbClr val="18212F"/>
                </a:solidFill>
              </a:rPr>
              <a:t>与论文报告值对照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392D8-AEAD-47AC-BA78-CC083BF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4F704-F8E2-49E6-A2DC-3C8CF59F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9555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数据集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3D491-B62A-40D8-AC36-7993DF5C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907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D4228-9F2C-4302-B270-606ED6DD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95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论文 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CCCD1-3CF1-4817-A013-1044C89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3907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20296-708C-4133-8527-F0EC846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95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复现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EEBA9-5D29-4BD6-8379-D743F390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3907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10D09-1020-4E4C-B36C-F483A17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495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论文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2C39D-634A-4C65-9277-29FA896D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23907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FE929-E774-4397-827E-508C680F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495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复现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ED3BA-1662-4168-8A8A-E137E3E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4322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6DA46-F9F4-442D-886A-4A26DB6A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480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FD001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6B951-D4A5-4E74-AA98-9AAFB172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432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74274-4CEA-4D17-8B2F-B2C3FCDF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12.33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08E54-C5D6-4A6D-A88B-CB4EC38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432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E0F64-C657-4930-9417-4C4A216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14.08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8244C-D7C4-4261-ABF8-327F624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432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62CFA-46A4-4124-96F1-7919F91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8.86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98047-7163-4889-822B-BCD930FE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29432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A8DEA-A9C0-495E-8099-ED846E7F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10.58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5D7FA-112F-47F1-A3FE-E837D8A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956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72D42-B2F6-4FAD-803E-33B6AEB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0045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FD003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D7262-F341-40A9-80FB-C293E9D8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956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5441F-0E96-4036-8215-0AB0D3A1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11.11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F66F8B-983A-48A3-8E4F-6A3244F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4956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C141EB-CFD8-42C8-B7B7-482E775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004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15.02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532FD-428D-4F07-84AD-2433FC95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4956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4BFA30-BFE5-485F-AD6A-3B6C28A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6004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7.12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FF971-76E5-40C6-A45C-C61D58E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4956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03231-7AA2-4D08-BEC8-0E7CD8A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36004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F"/>
                </a:solidFill>
              </a:defRPr>
            </a:pPr>
            <a:r>
              <a:rPr sz="1425">
                <a:solidFill>
                  <a:srgbClr val="18212F"/>
                </a:solidFill>
              </a:rPr>
              <a:t>10.56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A64BD4-5959-4E71-9791-ACBCFF23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9575"/>
            <a:ext cx="8001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6C6D85-4801-40E0-9AF7-A375F283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7658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结论：复现链路成立，CoLLM-C 在当前工程中略优于 Large；但大模型能力和置信度校准仍是主要短板。</a:t>
            </a:r>
          </a:p>
        </p:txBody>
      </p:sp>
      <p:sp>
        <p:nvSpPr>
          <p:cNvPr id="40" name="source">
            <a:extLst xmlns:a="http://schemas.openxmlformats.org/drawingml/2006/main">
              <a:ext uri="{FF2B5EF4-FFF2-40B4-BE49-F238E27FC236}">
                <a16:creationId xmlns:a16="http://schemas.microsoft.com/office/drawing/2014/main" id="{83E1A249-DF2F-4412-B510-B23B15E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4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B016BA-5D50-462E-8355-15EF1313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845140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D5D69-C42E-4EFA-A67E-472F9E5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FD001：CoLLM-C 略优于 Large，趋势图可解释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0694FC-3BE7-48D3-8832-04042D3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29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FD001 是单工况、单故障模式，当前路由收益较小但方向正确。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19ABB-8587-4EA4-BCAE-0BC8E00C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304020" cy="7410450"/>
          </a:xfrm>
          <a:prstGeom xmlns:a="http://schemas.openxmlformats.org/drawingml/2006/main" prst="roundRect">
            <a:avLst>
              <a:gd name="adj" fmla="val 10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pic>
        <p:nvPicPr>
          <p:cNvPr id="4" name="fd001-rul-comparis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fbf1a2c3e44ce"/>
          <a:stretch xmlns:a="http://schemas.openxmlformats.org/drawingml/2006/main"/>
        </p:blipFill>
        <p:spPr>
          <a:xfrm xmlns:a="http://schemas.openxmlformats.org/drawingml/2006/main">
            <a:off x="857250" y="3818001"/>
            <a:ext cx="8961120" cy="35844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73B32-D495-43B2-8845-72D654B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1905000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772D9-F3A8-46CD-968F-F77A096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Small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1BE94-4251-4EA4-B5AB-59B0C9B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622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15.09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E91FE-2A99-42B2-8A43-522FA943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718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轻量路径基线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C748D-3610-45D1-8C06-476C9A83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3800475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61CBA-2F7C-4BFC-9BED-72A53725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195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Large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623A3-8D78-4C64-AC0D-D5EC1E4E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672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14.11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E933F-BD85-4179-95FE-EA8F47A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768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大模型单独预测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60E7A-DA93-4D8E-B4C6-E5861AA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5695950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BDAC9-39AE-4095-978E-09715F5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0550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CoLLM-C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F1637-04C6-4F82-AD1F-DC48C05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5315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14.08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E23F3-5CD9-4097-A10E-888B5FF6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76275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严格论文阈值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6CC21-2399-46B3-AAE0-7D191E9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7591425"/>
            <a:ext cx="761238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85117-F3A2-45C3-9BCD-D8971BA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79145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解读：FD001 上 CoLLM 的收益不是来自大幅替换，而是保留高置信小模型样本，同时把不确定样本交给 Large / Reflection 修正。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95207696-5AA2-47A8-BF78-06129E8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6D1D00-159E-4D56-85EC-CC2766D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02464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EAC1F7-1522-42FC-882A-4BDD26B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FD003：已加入完整训练与测试，差距更明显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6F71D2-C01A-4C1D-AD5F-3DB3331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58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FD003 对模型泛化和大模型表达能力要求更高，因此最能暴露当前复现短板。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B33E7-FF19-4428-BCBB-AB2DE50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304020" cy="7410450"/>
          </a:xfrm>
          <a:prstGeom xmlns:a="http://schemas.openxmlformats.org/drawingml/2006/main" prst="roundRect">
            <a:avLst>
              <a:gd name="adj" fmla="val 10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pic>
        <p:nvPicPr>
          <p:cNvPr id="4" name="fd003-rul-comparis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f5eea494e4011"/>
          <a:stretch xmlns:a="http://schemas.openxmlformats.org/drawingml/2006/main"/>
        </p:blipFill>
        <p:spPr>
          <a:xfrm xmlns:a="http://schemas.openxmlformats.org/drawingml/2006/main">
            <a:off x="857250" y="3818001"/>
            <a:ext cx="8961120" cy="35844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D3153-C2CC-4E7B-9F4D-8C8177D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1905000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A082-0306-4CED-AEB2-71A0F4B1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Small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7FA70-6AB4-41A7-8DDA-9FC8484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622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16.90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A9D23-CD4F-4C3A-A57A-5859D8B9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718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FD003 小模型基线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3031-EDAC-4407-A9AC-69A0C47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3800475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4FC6E-8BE3-426E-9B21-31AE274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1955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Large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D353-7E1E-4ED8-8732-AE3EB6C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6720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15.05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33CC0-9829-417E-974F-4FC18F8E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7680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大模型明显更强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ACF10-ECC3-4189-A1E2-6CF291BB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5695950"/>
            <a:ext cx="7612380" cy="17240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64FB1-C14A-4CCE-8571-57A5173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05500"/>
            <a:ext cx="7162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CoLLM-C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1159C-1B87-4207-83D8-F54EF00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53150"/>
            <a:ext cx="716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15.02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BA2D6-9464-4928-9397-B2D2BD2F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762750"/>
            <a:ext cx="7162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confidence 训练后略有提升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C8A83-1CEF-4030-8FBA-2E35A04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820" y="7591425"/>
            <a:ext cx="761238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0088-F6C6-42BD-A36B-1BF1B560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791450"/>
            <a:ext cx="723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解读：CoLLM-C 没有超过论文结果，但已经验证 FD003 的数据链路、训练链路、测试链路和模糊路由链路都是可工作的。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EE8CB1C3-B0D6-4F13-AD20-665EC926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2E29F8-DDAE-4C85-AC9E-01783740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40091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BDEA46-5370-48F9-912E-3ABD37BA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当前差距：不是算法方向问题，而是复现资源与实现细节问题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90C606-8D71-43BF-94B4-CB546CC8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下面这些原因都不改变论文思路，但会显著影响最终指标。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9C1DD-9AE7-48AE-B558-1C62E89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638800" cy="7648575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89331-69C4-430E-99B1-EA120068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14525"/>
            <a:ext cx="11620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EB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C14CE-0B38-49A1-8787-F4407655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大模型能力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A05A5-0ECE-4856-BF6B-A222E505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514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当前 LargeModel 是可复现的 One Fits All 风格实现，但还不是论文中完整预训练大模型资源。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5C5B2-6DB5-4CF6-A4BB-EBE6D200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5638800" cy="7648575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38187-5474-4E3B-B169-F14EF2DD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14525"/>
            <a:ext cx="11620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166EB-9BBD-4E26-B1CB-48B5D78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置信度校准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5CCE4-C3C5-426F-B2E2-514789D7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514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模糊决策依赖 confidence，训练后已有改善，但仍需要更稳定的校准和多 seed 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F9BA4-6C65-46B1-B45D-10CC159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666875"/>
            <a:ext cx="5638800" cy="7648575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70E5F-F347-4B14-972B-4865C8F3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914525"/>
            <a:ext cx="9906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DCC04-9C35-49D0-A5B2-94523168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0002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实现细节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798DC-4AFF-4216-8C10-15862542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419350"/>
            <a:ext cx="514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12F"/>
                </a:solidFill>
              </a:defRPr>
            </a:pPr>
            <a:r>
              <a:rPr sz="1725">
                <a:solidFill>
                  <a:srgbClr val="18212F"/>
                </a:solidFill>
              </a:rPr>
              <a:t>论文未完全公开的训练细节、checkpoint、预训练配置和随机种子都会影响 FD003 等困难子集。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D94F6E04-1111-4068-8321-BA23AA8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9200E7-F756-4406-AD65-C0E8990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42453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B8DB93-45C7-4DB2-B9EE-63F1E11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12F"/>
                </a:solidFill>
              </a:defRPr>
            </a:pPr>
            <a:r>
              <a:rPr sz="3900" b="1">
                <a:solidFill>
                  <a:srgbClr val="18212F"/>
                </a:solidFill>
              </a:rPr>
              <a:t>下一步计划：继续严格按论文路线补齐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4E529F-6F0C-403A-8561-7F9D461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29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B6472"/>
                </a:solidFill>
              </a:defRPr>
            </a:pPr>
            <a:r>
              <a:rPr sz="1875">
                <a:solidFill>
                  <a:srgbClr val="5B6472"/>
                </a:solidFill>
              </a:rPr>
              <a:t>后续不以“刷指标”为目标，而是补齐论文算法真正依赖的能力。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237F5-4786-4274-8E88-3F22AC5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12380" cy="7648575"/>
          </a:xfrm>
          <a:prstGeom xmlns:a="http://schemas.openxmlformats.org/drawingml/2006/main" prst="roundRect">
            <a:avLst>
              <a:gd name="adj" fmla="val 10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74242-B028-4311-801E-5F112A7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704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F"/>
                </a:solidFill>
              </a:defRPr>
            </a:pPr>
            <a:r>
              <a:rPr sz="2550" b="1">
                <a:solidFill>
                  <a:srgbClr val="18212F"/>
                </a:solidFill>
              </a:rPr>
              <a:t>建议汇报结论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54C87-92E6-4C9A-97D3-9FCF005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704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12F"/>
                </a:solidFill>
              </a:defRPr>
            </a:pPr>
            <a:r>
              <a:rPr sz="1800">
                <a:solidFill>
                  <a:srgbClr val="18212F"/>
                </a:solidFill>
              </a:rPr>
              <a:t>项目已经从“能否跑通”推进到“能否缩小与论文指标差距”的阶段。两个子集均可训练和测试，当前主要工作是增强大模型与校准路由，而不是推翻算法。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CEE14-6176-4C6C-8A99-1DEA4864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1666875"/>
            <a:ext cx="9304020" cy="1783556"/>
          </a:xfrm>
          <a:prstGeom xmlns:a="http://schemas.openxmlformats.org/drawingml/2006/main" prst="roundRect">
            <a:avLst>
              <a:gd name="adj" fmla="val 3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16780-9C04-42FE-BE32-E73FD139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883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57B2"/>
                </a:solidFill>
              </a:defRPr>
            </a:pPr>
            <a:r>
              <a:rPr sz="1350" b="1">
                <a:solidFill>
                  <a:srgbClr val="4257B2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D82DE-8130-4644-87A9-5614851E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883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补齐 Large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E45FC-18F8-4679-B30E-44DAC62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883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接入更接近论文的 One Fits All / 预训练 backbone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FA753-BC2C-4FF4-A217-CB3B6F00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3621881"/>
            <a:ext cx="9304020" cy="1783556"/>
          </a:xfrm>
          <a:prstGeom xmlns:a="http://schemas.openxmlformats.org/drawingml/2006/main" prst="roundRect">
            <a:avLst>
              <a:gd name="adj" fmla="val 3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C0FBF-F681-41DF-B6E2-C3434B0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883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</a:defRPr>
            </a:pPr>
            <a:r>
              <a:rPr sz="1350" b="1">
                <a:solidFill>
                  <a:srgbClr val="087E8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99EEF-74C5-47C4-96C2-9D09792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883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校准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40DC1-6D9C-4DAF-A146-CCFABDD3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86300"/>
            <a:ext cx="883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保持 A/B/C 阈值思想，优化 confidence 训练与验证方式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2148F-3927-47B0-9A25-050533A9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5576888"/>
            <a:ext cx="9304020" cy="1783556"/>
          </a:xfrm>
          <a:prstGeom xmlns:a="http://schemas.openxmlformats.org/drawingml/2006/main" prst="roundRect">
            <a:avLst>
              <a:gd name="adj" fmla="val 3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58081-143B-4449-ADB9-CA313232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91200"/>
            <a:ext cx="883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0A526"/>
                </a:solidFill>
              </a:defRPr>
            </a:pPr>
            <a:r>
              <a:rPr sz="1350" b="1">
                <a:solidFill>
                  <a:srgbClr val="E0A526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0F81B-6F1F-4ADD-8577-912354A7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38850"/>
            <a:ext cx="883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重复实验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6D4E2-9A4D-4FCC-BBDA-4267B691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648450"/>
            <a:ext cx="883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固定 seed、多次训练，报告均值/方差和路由比例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F9149-A23E-466A-8584-132D6D13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7531894"/>
            <a:ext cx="9304020" cy="1783556"/>
          </a:xfrm>
          <a:prstGeom xmlns:a="http://schemas.openxmlformats.org/drawingml/2006/main" prst="roundRect">
            <a:avLst>
              <a:gd name="adj" fmla="val 3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CC8B2-E3F5-4588-A43C-494DCBE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734300"/>
            <a:ext cx="883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A4F"/>
                </a:solidFill>
              </a:defRPr>
            </a:pPr>
            <a:r>
              <a:rPr sz="1350" b="1">
                <a:solidFill>
                  <a:srgbClr val="E45A4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8635D-0391-42DB-921F-8803C07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981950"/>
            <a:ext cx="883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12F"/>
                </a:solidFill>
              </a:defRPr>
            </a:pPr>
            <a:r>
              <a:rPr sz="4200" b="1">
                <a:solidFill>
                  <a:srgbClr val="18212F"/>
                </a:solidFill>
              </a:rPr>
              <a:t>补充效率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81991-F602-49BC-8515-6195E7F4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591550"/>
            <a:ext cx="883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加入推理耗时与分流比例，体现大小模型协作价值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5218A309-8C97-4E58-9CCC-3BFD1B32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2152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</a:defRPr>
            </a:pPr>
            <a:r>
              <a:rPr sz="1200">
                <a:solidFill>
                  <a:srgbClr val="5B6472"/>
                </a:solidFill>
              </a:rPr>
              <a:t>Source: project logs / eval outputs.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64092D-3430-4826-B046-15103B9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821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1246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2026-04-25T22:49:56.9410000Z</dcterms:created>
  <dcterms:modified xsi:type="dcterms:W3CDTF">2026-04-25T22:49:56.9410000Z</dcterms:modified>
</coreProperties>
</file>